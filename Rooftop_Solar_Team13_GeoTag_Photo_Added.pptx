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6"/>
  </p:sldIdLst>
  <p:sldSz cx="12191695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Zalando Sans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Zalando Sans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Zalando Sans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Zalando Sans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Zalando Sans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Zalando Sans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Zalando Sans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Zalando Sans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Zalando Sans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IMAHI TECHNOPARK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1B3B5"/>
    <a:srgbClr val="76787A"/>
    <a:srgbClr val="4A4A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022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commentAuthors" Target="commentAuthors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5491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6438900" y="1028700"/>
            <a:ext cx="4800600" cy="4800600"/>
          </a:xfrm>
          <a:prstGeom prst="ellipse">
            <a:avLst/>
          </a:prstGeom>
          <a:pattFill prst="pct5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2338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8839200" y="685800"/>
            <a:ext cx="2743200" cy="2743200"/>
          </a:xfrm>
          <a:prstGeom prst="ellipse">
            <a:avLst/>
          </a:prstGeom>
          <a:pattFill prst="pct5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22021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09600" y="4800600"/>
            <a:ext cx="2057400" cy="1371600"/>
          </a:xfrm>
          <a:prstGeom prst="rect">
            <a:avLst/>
          </a:prstGeom>
          <a:pattFill prst="pct5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0245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8839200" y="685799"/>
            <a:ext cx="1731296" cy="1723743"/>
          </a:xfrm>
          <a:prstGeom prst="rect">
            <a:avLst/>
          </a:prstGeom>
          <a:pattFill prst="pct5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15816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1981200" y="4119782"/>
            <a:ext cx="3086100" cy="2052418"/>
          </a:xfrm>
          <a:prstGeom prst="rect">
            <a:avLst/>
          </a:prstGeom>
          <a:pattFill prst="pct5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0680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09600" y="4114800"/>
            <a:ext cx="2057400" cy="2052418"/>
          </a:xfrm>
          <a:prstGeom prst="rect">
            <a:avLst/>
          </a:prstGeom>
          <a:pattFill prst="pct5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63450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09600" y="3917739"/>
            <a:ext cx="2743200" cy="2249479"/>
          </a:xfrm>
          <a:prstGeom prst="rect">
            <a:avLst/>
          </a:prstGeom>
          <a:pattFill prst="pct5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841150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10210800" y="4457701"/>
            <a:ext cx="1371604" cy="1371600"/>
          </a:xfrm>
          <a:prstGeom prst="rect">
            <a:avLst/>
          </a:prstGeom>
          <a:pattFill prst="pct5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71992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2324100" y="4114800"/>
            <a:ext cx="2057400" cy="2057400"/>
          </a:xfrm>
          <a:prstGeom prst="rect">
            <a:avLst/>
          </a:prstGeom>
          <a:pattFill prst="pct5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64168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9525000" y="4800600"/>
            <a:ext cx="2057400" cy="1371088"/>
          </a:xfrm>
          <a:prstGeom prst="rect">
            <a:avLst/>
          </a:prstGeom>
          <a:pattFill prst="pct5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782097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7467600" y="686312"/>
            <a:ext cx="4114800" cy="2056888"/>
          </a:xfrm>
          <a:prstGeom prst="rect">
            <a:avLst/>
          </a:prstGeom>
          <a:pattFill prst="pct5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0548576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8839205" y="3429000"/>
            <a:ext cx="2740026" cy="2740026"/>
          </a:xfrm>
          <a:prstGeom prst="ellipse">
            <a:avLst/>
          </a:prstGeom>
          <a:pattFill prst="pct5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71741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8479857" y="2695676"/>
            <a:ext cx="3064444" cy="3476525"/>
          </a:xfrm>
          <a:custGeom>
            <a:avLst/>
            <a:gdLst>
              <a:gd name="connsiteX0" fmla="*/ 0 w 3064444"/>
              <a:gd name="connsiteY0" fmla="*/ 0 h 3476525"/>
              <a:gd name="connsiteX1" fmla="*/ 3064444 w 3064444"/>
              <a:gd name="connsiteY1" fmla="*/ 0 h 3476525"/>
              <a:gd name="connsiteX2" fmla="*/ 3064444 w 3064444"/>
              <a:gd name="connsiteY2" fmla="*/ 3476525 h 3476525"/>
              <a:gd name="connsiteX3" fmla="*/ 0 w 3064444"/>
              <a:gd name="connsiteY3" fmla="*/ 3476525 h 3476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64444" h="3476525">
                <a:moveTo>
                  <a:pt x="0" y="0"/>
                </a:moveTo>
                <a:lnTo>
                  <a:pt x="3064444" y="0"/>
                </a:lnTo>
                <a:lnTo>
                  <a:pt x="3064444" y="3476525"/>
                </a:lnTo>
                <a:lnTo>
                  <a:pt x="0" y="347652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9892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Zalando Sans SemiBold" pitchFamily="2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Zalando Sans SemiBold" pitchFamily="2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Zalando Sans SemiBold" pitchFamily="2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Zalando Sans SemiBold" pitchFamily="2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Zalando Sans SemiBold" pitchFamily="2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Zalando Sans SemiBold" pitchFamily="2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Zalando Sans SemiBold" pitchFamily="2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Zalando Sans SemiBold" pitchFamily="2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bhogadirishita-dot/PSPJ" TargetMode="External"/><Relationship Id="rId3" Type="http://schemas.openxmlformats.org/officeDocument/2006/relationships/hyperlink" Target="https://github.com/mahima422/PSPJ" TargetMode="External"/><Relationship Id="rId4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TextBox 11"/>
          <p:cNvSpPr txBox="1"/>
          <p:nvPr/>
        </p:nvSpPr>
        <p:spPr>
          <a:xfrm>
            <a:off x="731520" y="731520"/>
            <a:ext cx="7680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JAVA PROJECT  •  CO1–CO6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417320"/>
            <a:ext cx="7863840" cy="1554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Rooftop Solar</a:t>
            </a:r>
          </a:p>
          <a:p>
            <a:pPr algn="l">
              <a:spcAft>
                <a:spcPts val="50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Energy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3246120"/>
            <a:ext cx="722376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 Java-based model for solar generation, household demand and payback.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4526280"/>
            <a:ext cx="621792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TEAM 13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Mahima  •  2620040049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Rishita  •  2620030420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6080760"/>
            <a:ext cx="3657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15 OCTOBER 2026</a:t>
            </a:r>
          </a:p>
        </p:txBody>
      </p:sp>
      <p:pic>
        <p:nvPicPr>
          <p:cNvPr id="18" name="Picture 17" descr="nuno-marques-0GbrjL3vZF4-unspla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0"/>
            <a:ext cx="4373575" cy="68580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699248" y="0"/>
            <a:ext cx="118872" cy="6858000"/>
          </a:xfrm>
          <a:prstGeom prst="rect">
            <a:avLst/>
          </a:prstGeom>
          <a:solidFill>
            <a:srgbClr val="43B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5720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FFFFFF"/>
                </a:solidFill>
                <a:latin typeface="Aptos"/>
              </a:rP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713232" cy="50292"/>
          </a:xfrm>
          <a:prstGeom prst="rect">
            <a:avLst/>
          </a:prstGeom>
          <a:solidFill>
            <a:srgbClr val="5B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029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ROOFTOP SOLAR ENERGY SYSTEM  •  TEAM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6400800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000000"/>
                </a:solidFill>
                <a:latin typeface="Aptos"/>
              </a:rPr>
              <a:t>Estimate what a rooftop solar installation can generate—and whether that generation can cover a household’s electricity use.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8892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788920"/>
            <a:ext cx="73152" cy="1417320"/>
          </a:xfrm>
          <a:prstGeom prst="rect">
            <a:avLst/>
          </a:prstGeom>
          <a:solidFill>
            <a:srgbClr val="30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944368"/>
            <a:ext cx="304495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Aptos"/>
              </a:rPr>
              <a:t>SYSTEM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319272"/>
            <a:ext cx="3044952" cy="7955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12 panels × 450 W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Installed capacity: 5.4 kW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278892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2788920"/>
            <a:ext cx="73152" cy="1417320"/>
          </a:xfrm>
          <a:prstGeom prst="rect">
            <a:avLst/>
          </a:prstGeom>
          <a:solidFill>
            <a:srgbClr val="5B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2944368"/>
            <a:ext cx="304495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Aptos"/>
              </a:rPr>
              <a:t>SITE ASSUMPTIONS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3319272"/>
            <a:ext cx="3044952" cy="7955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Hyderabad • 5.5 sunlight hours/day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Efficiency: 0.85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2788920"/>
            <a:ext cx="36576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63840" y="2788920"/>
            <a:ext cx="73152" cy="1417320"/>
          </a:xfrm>
          <a:prstGeom prst="rect">
            <a:avLst/>
          </a:prstGeom>
          <a:solidFill>
            <a:srgbClr val="F4B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5008" y="2944368"/>
            <a:ext cx="327355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Aptos"/>
              </a:rPr>
              <a:t>WHAT IT 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8" y="3319272"/>
            <a:ext cx="3273552" cy="7955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Energy generation, surplus/deficit, net-metering, savings and payback.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17720"/>
            <a:ext cx="10881360" cy="1005840"/>
          </a:xfrm>
          <a:prstGeom prst="roundRect">
            <a:avLst>
              <a:gd name="adj" fmla="val 12000"/>
            </a:avLst>
          </a:prstGeom>
          <a:solidFill>
            <a:srgbClr val="E1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828032"/>
            <a:ext cx="10424160" cy="5943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Aptos"/>
              </a:rPr>
              <a:t>Project progression: expressions → control flow → methods &amp; arrays → OOP → strings &amp; files → collections &amp; streams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5720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SYSTEM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FFFFFF"/>
                </a:solidFill>
                <a:latin typeface="Aptos"/>
              </a:rPr>
              <a:t>Understanding 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713232" cy="50292"/>
          </a:xfrm>
          <a:prstGeom prst="rect">
            <a:avLst/>
          </a:prstGeom>
          <a:solidFill>
            <a:srgbClr val="5B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029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ROOFTOP SOLAR ENERGY SYSTEM  •  TEAM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342900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73152" cy="1874519"/>
          </a:xfrm>
          <a:prstGeom prst="rect">
            <a:avLst/>
          </a:prstGeom>
          <a:solidFill>
            <a:srgbClr val="30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01368"/>
            <a:ext cx="304495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Aptos"/>
              </a:rPr>
              <a:t>INPUTS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76272"/>
            <a:ext cx="3044952" cy="125272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Aptos"/>
              </a:rPr>
              <a:t>• 450 W panels; 12 panels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Aptos"/>
              </a:rPr>
              <a:t>• Efficiency: 0.85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Aptos"/>
              </a:rPr>
              <a:t>• Sunlight: 5.5 h/day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Aptos"/>
              </a:rPr>
              <a:t>• Six bills: 300–360 units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Aptos"/>
              </a:rPr>
              <a:t>• Tariff rates: ₹3.50 / ₹5.20 / ₹7.10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645920"/>
            <a:ext cx="342900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645920"/>
            <a:ext cx="73152" cy="1874519"/>
          </a:xfrm>
          <a:prstGeom prst="rect">
            <a:avLst/>
          </a:prstGeom>
          <a:solidFill>
            <a:srgbClr val="5B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801368"/>
            <a:ext cx="304495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Aptos"/>
              </a:rPr>
              <a:t>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2176272"/>
            <a:ext cx="3044952" cy="125272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Aptos"/>
              </a:rPr>
              <a:t>1. Calculate installed capacity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Aptos"/>
              </a:rPr>
              <a:t>2. Estimate daily/monthly/yearly energy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Aptos"/>
              </a:rPr>
              <a:t>3. Compare with average use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Aptos"/>
              </a:rPr>
              <a:t>4. Apply tariff and estimate savings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645920"/>
            <a:ext cx="365760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0" y="1645920"/>
            <a:ext cx="73152" cy="1874519"/>
          </a:xfrm>
          <a:prstGeom prst="rect">
            <a:avLst/>
          </a:prstGeom>
          <a:solidFill>
            <a:srgbClr val="F4B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5008" y="1801368"/>
            <a:ext cx="327355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Aptos"/>
              </a:rPr>
              <a:t>OUTPUTS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8" y="2176272"/>
            <a:ext cx="3273552" cy="125272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Aptos"/>
              </a:rPr>
              <a:t>• Generation and surplus/deficit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Aptos"/>
              </a:rPr>
              <a:t>• Net-metering eligibility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Aptos"/>
              </a:rPr>
              <a:t>• Battery requirement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Aptos"/>
              </a:rPr>
              <a:t>• Monthly savings and payback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977639"/>
            <a:ext cx="10881360" cy="1051560"/>
          </a:xfrm>
          <a:prstGeom prst="roundRect">
            <a:avLst>
              <a:gd name="adj" fmla="val 12000"/>
            </a:avLst>
          </a:prstGeom>
          <a:solidFill>
            <a:srgbClr val="F0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187952"/>
            <a:ext cx="10378440" cy="6400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00000"/>
                </a:solidFill>
                <a:latin typeface="Aptos"/>
              </a:rPr>
              <a:t>Validation rule: inputs must be valid; panel count, area and sunlight hours are positive, and efficiency is between 0 and 1.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94960"/>
            <a:ext cx="1051560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000000"/>
                </a:solidFill>
                <a:latin typeface="Aptos"/>
              </a:rPr>
              <a:t>Core formulas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000000"/>
                </a:solidFill>
                <a:latin typeface="Aptos"/>
              </a:rPr>
              <a:t>Capacity (kW) = panel wattage × number of panels ÷ 1000     |     Daily energy = capacity × sunlight hours × efficiency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5720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FOUNDATIONS • BTL3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FFFFFF"/>
                </a:solidFill>
                <a:latin typeface="Aptos"/>
              </a:rPr>
              <a:t>CO1 — From problem to program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713232" cy="50292"/>
          </a:xfrm>
          <a:prstGeom prst="rect">
            <a:avLst/>
          </a:prstGeom>
          <a:solidFill>
            <a:srgbClr val="5B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029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ROOFTOP SOLAR ENERGY SYSTEM  •  TEAM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480060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73152" cy="3383280"/>
          </a:xfrm>
          <a:prstGeom prst="rect">
            <a:avLst/>
          </a:prstGeom>
          <a:solidFill>
            <a:srgbClr val="30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01368"/>
            <a:ext cx="441655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Aptos"/>
              </a:rPr>
              <a:t>CONCEPTS 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76272"/>
            <a:ext cx="4416552" cy="2761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• Algorithm and data types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• Expressions and console output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• String, int, double and boolean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• Arithmetic, logical and ternary operators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• Formatted reporting with printf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1645920"/>
            <a:ext cx="5806440" cy="3383280"/>
          </a:xfrm>
          <a:prstGeom prst="roundRect">
            <a:avLst>
              <a:gd name="adj" fmla="val 12000"/>
            </a:avLst>
          </a:prstGeom>
          <a:solidFill>
            <a:srgbClr val="272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16168" y="1755648"/>
            <a:ext cx="5440679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000000"/>
                </a:solidFill>
                <a:latin typeface="Aptos"/>
              </a:rPr>
              <a:t>JAVA SNIPPET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6168" y="2029968"/>
            <a:ext cx="5440679" cy="2926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double capacityKW =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    (panelWattage * numPanels) / 1000;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double dailyEnergyKWh =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    capacityKW * sunlightHours * efficiency;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boolean meetsDemand =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    monthlyEnergyKWh &gt;= avgConsumption;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System.out.printf("Daily: %.2f kWh%n",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    dailyEnergyKWh);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34924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1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477256"/>
            <a:ext cx="10424160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00000"/>
                </a:solidFill>
                <a:latin typeface="Aptos"/>
              </a:rPr>
              <a:t>Program: RooftopSolarCalculator.java  •  Output: a formatted solar-generation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5720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SELECTION • LOOPS • TERMINATION • BTL4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FFFFFF"/>
                </a:solidFill>
                <a:latin typeface="Aptos"/>
              </a:rPr>
              <a:t>CO2 — Control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713232" cy="50292"/>
          </a:xfrm>
          <a:prstGeom prst="rect">
            <a:avLst/>
          </a:prstGeom>
          <a:solidFill>
            <a:srgbClr val="5B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029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ROOFTOP SOLAR ENERGY SYSTEM  •  TEAM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480060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73152" cy="3383280"/>
          </a:xfrm>
          <a:prstGeom prst="rect">
            <a:avLst/>
          </a:prstGeom>
          <a:solidFill>
            <a:srgbClr val="30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01368"/>
            <a:ext cx="441655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Aptos"/>
              </a:rPr>
              <a:t>DECISION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76272"/>
            <a:ext cx="4416552" cy="2761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if–else: surplus or deficit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Eligibility for net metering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Battery-backup decision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else-if: tariff slab and payback rating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switch–case: slab name and rate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default branch handles unexpected codes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1645920"/>
            <a:ext cx="5806440" cy="3383280"/>
          </a:xfrm>
          <a:prstGeom prst="roundRect">
            <a:avLst>
              <a:gd name="adj" fmla="val 12000"/>
            </a:avLst>
          </a:prstGeom>
          <a:solidFill>
            <a:srgbClr val="272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16168" y="1755648"/>
            <a:ext cx="5440679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000000"/>
                </a:solidFill>
                <a:latin typeface="Aptos"/>
              </a:rPr>
              <a:t>JAVA SNIPPET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6168" y="2029968"/>
            <a:ext cx="5440679" cy="2926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if (avgUnits &lt;= 100) {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    slabCode = 1;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} else if (avgUnits &lt;= 300) {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    slabCode = 2;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} else {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    slabCode = 3;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}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switch (slabCode) {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  case 1: rate = slab1Rate; break;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  case 2: rate = slab2Rate; break;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  case 3: rate = slab3Rate; break;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  default: rate = slab2Rate;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34924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F0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477256"/>
            <a:ext cx="10424160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000000"/>
                </a:solidFill>
                <a:latin typeface="Aptos"/>
              </a:rPr>
              <a:t>Reported example: Slab 3 at ₹7.10/unit • estimated savings ₹3,057.85/month • payback 17.4 years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5720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MODULAR DESIGN • BTL4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FFFFFF"/>
                </a:solidFill>
                <a:latin typeface="Aptos"/>
              </a:rPr>
              <a:t>CO3 — Methods, recursion &amp; arrays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713232" cy="50292"/>
          </a:xfrm>
          <a:prstGeom prst="rect">
            <a:avLst/>
          </a:prstGeom>
          <a:solidFill>
            <a:srgbClr val="5B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029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ROOFTOP SOLAR ENERGY SYSTEM  •  TEAM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480060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73152" cy="3383280"/>
          </a:xfrm>
          <a:prstGeom prst="rect">
            <a:avLst/>
          </a:prstGeom>
          <a:solidFill>
            <a:srgbClr val="30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01368"/>
            <a:ext cx="441655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Aptos"/>
              </a:rPr>
              <a:t>DATA &amp; METHODS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76272"/>
            <a:ext cx="4416552" cy="2761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monthlyBillUnits[] stores six months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tariffRates[] stores three tariff slabs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Enhanced for-loop totals monthly units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Methods separate calculation and reporting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main() coordinates the method calls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1645920"/>
            <a:ext cx="5806440" cy="3383280"/>
          </a:xfrm>
          <a:prstGeom prst="roundRect">
            <a:avLst>
              <a:gd name="adj" fmla="val 12000"/>
            </a:avLst>
          </a:prstGeom>
          <a:solidFill>
            <a:srgbClr val="272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16168" y="1755648"/>
            <a:ext cx="5440679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000000"/>
                </a:solidFill>
                <a:latin typeface="Aptos"/>
              </a:rPr>
              <a:t>JAVA SNIPPET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6168" y="2029968"/>
            <a:ext cx="5440679" cy="2926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int[] monthlyBillUnits =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    {320, 300, 340, 310, 360, 330};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double[] tariffRates = {3.50, 5.20, 7.10};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static double calculateAverage(int[] units) {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    double sum = 0;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    for (int u : units) sum += u;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    return sum / units.length;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34924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1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477256"/>
            <a:ext cx="10424160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000000"/>
                </a:solidFill>
                <a:latin typeface="Aptos"/>
              </a:rPr>
              <a:t>Methods include calculateCapacityKW, calculateDailyEnergy, calculateAverage, calculateSavings and calculatePayback.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5720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OOP • ENCAPSULATION • EXCEPTIONS • BTL6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FFFFFF"/>
                </a:solidFill>
                <a:latin typeface="Aptos"/>
              </a:rPr>
              <a:t>CO4 — Objects that fail safely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713232" cy="50292"/>
          </a:xfrm>
          <a:prstGeom prst="rect">
            <a:avLst/>
          </a:prstGeom>
          <a:solidFill>
            <a:srgbClr val="5B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029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ROOFTOP SOLAR ENERGY SYSTEM  •  TEAM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3429000" cy="3108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73152" cy="3108960"/>
          </a:xfrm>
          <a:prstGeom prst="rect">
            <a:avLst/>
          </a:prstGeom>
          <a:solidFill>
            <a:srgbClr val="30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01368"/>
            <a:ext cx="304495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Aptos"/>
              </a:rPr>
              <a:t>CLASS &amp; OBJECT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76272"/>
            <a:ext cx="3044952" cy="2487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RooftopSolarEnergy uses a parameterized constructor to initialize site and panel details.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645920"/>
            <a:ext cx="3429000" cy="3108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645920"/>
            <a:ext cx="73152" cy="3108960"/>
          </a:xfrm>
          <a:prstGeom prst="rect">
            <a:avLst/>
          </a:prstGeom>
          <a:solidFill>
            <a:srgbClr val="5B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801368"/>
            <a:ext cx="304495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Aptos"/>
              </a:rPr>
              <a:t>ENCAPSULATION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2176272"/>
            <a:ext cx="3044952" cy="2487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Private fields include roofArea, panelEfficiency, numberOfPanels and sunlightHours, exposed through public getters.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645920"/>
            <a:ext cx="3657600" cy="3108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0" y="1645920"/>
            <a:ext cx="73152" cy="3108960"/>
          </a:xfrm>
          <a:prstGeom prst="rect">
            <a:avLst/>
          </a:prstGeom>
          <a:solidFill>
            <a:srgbClr val="F4B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5008" y="1801368"/>
            <a:ext cx="327355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Aptos"/>
              </a:rPr>
              <a:t>SAFE 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8" y="2176272"/>
            <a:ext cx="3273552" cy="2487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Invalid efficiency raises IllegalArgumentException. try/catch handles errors; finally closes the Scanner.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983480"/>
            <a:ext cx="10881360" cy="1051560"/>
          </a:xfrm>
          <a:prstGeom prst="roundRect">
            <a:avLst>
              <a:gd name="adj" fmla="val 12000"/>
            </a:avLst>
          </a:prstGeom>
          <a:solidFill>
            <a:srgbClr val="272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5093208"/>
            <a:ext cx="105156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JAVA SNIPPET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5367528"/>
            <a:ext cx="10515600" cy="59435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if (panelEfficiency &lt;= 0 || panelEfficiency &gt; 1)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    throw new IllegalArgumentException("Panel efficiency must be between 0 and 1.");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5720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TEXT PROCESSING • BTL4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FFFFFF"/>
                </a:solidFill>
                <a:latin typeface="Aptos"/>
              </a:rPr>
              <a:t>CO5 — Strings, library algorithms &amp; 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713232" cy="50292"/>
          </a:xfrm>
          <a:prstGeom prst="rect">
            <a:avLst/>
          </a:prstGeom>
          <a:solidFill>
            <a:srgbClr val="5B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029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ROOFTOP SOLAR ENERGY SYSTEM  •  TEAM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3429000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73152" cy="3337560"/>
          </a:xfrm>
          <a:prstGeom prst="rect">
            <a:avLst/>
          </a:prstGeom>
          <a:solidFill>
            <a:srgbClr val="30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01368"/>
            <a:ext cx="304495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Aptos"/>
              </a:rPr>
              <a:t>STRING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76272"/>
            <a:ext cx="3044952" cy="27157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toUpperCase(), toLowerCase(), length(), contains() and StringBuilder create and inspect the report.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645920"/>
            <a:ext cx="3429000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645920"/>
            <a:ext cx="73152" cy="3337560"/>
          </a:xfrm>
          <a:prstGeom prst="rect">
            <a:avLst/>
          </a:prstGeom>
          <a:solidFill>
            <a:srgbClr val="5B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801368"/>
            <a:ext cx="304495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Aptos"/>
              </a:rPr>
              <a:t>SEARCH &amp; SORT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2176272"/>
            <a:ext cx="3044952" cy="27157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Linear search checks panel names with equalsIgnoreCase(). Arrays.sort() sorts a clone of energyGenerated[].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645920"/>
            <a:ext cx="3657600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0" y="1645920"/>
            <a:ext cx="73152" cy="3337560"/>
          </a:xfrm>
          <a:prstGeom prst="rect">
            <a:avLst/>
          </a:prstGeom>
          <a:solidFill>
            <a:srgbClr val="F4B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5008" y="1801368"/>
            <a:ext cx="327355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Aptos"/>
              </a:rPr>
              <a:t>FILE I/O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8" y="2176272"/>
            <a:ext cx="3273552" cy="27157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FileWriter writes SolarEnergyReport.txt. BufferedReader reads the report back; IOException is handled.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257800"/>
            <a:ext cx="10881360" cy="777240"/>
          </a:xfrm>
          <a:prstGeom prst="roundRect">
            <a:avLst>
              <a:gd name="adj" fmla="val 12000"/>
            </a:avLst>
          </a:prstGeom>
          <a:solidFill>
            <a:srgbClr val="272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5367528"/>
            <a:ext cx="105156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JAVA SNIPPET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5641848"/>
            <a:ext cx="10515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double[] sortedEnergy = energyGenerated.clone();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Arrays.sort(sortedEnergy);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5720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FUNCTIONAL PROCESSING • BTL6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FFFFFF"/>
                </a:solidFill>
                <a:latin typeface="Aptos"/>
              </a:rPr>
              <a:t>CO6 — Collections &amp; streams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713232" cy="50292"/>
          </a:xfrm>
          <a:prstGeom prst="rect">
            <a:avLst/>
          </a:prstGeom>
          <a:solidFill>
            <a:srgbClr val="5B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029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ROOFTOP SOLAR ENERGY SYSTEM  •  TEAM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3429000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73152" cy="3246120"/>
          </a:xfrm>
          <a:prstGeom prst="rect">
            <a:avLst/>
          </a:prstGeom>
          <a:solidFill>
            <a:srgbClr val="30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01368"/>
            <a:ext cx="304495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Aptos"/>
              </a:rPr>
              <a:t>COLLECTIONS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76272"/>
            <a:ext cx="3044952" cy="262432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List&lt;Double&gt; / ArrayList stores panel wattages in a flexible collection.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645920"/>
            <a:ext cx="3429000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645920"/>
            <a:ext cx="73152" cy="3246120"/>
          </a:xfrm>
          <a:prstGeom prst="rect">
            <a:avLst/>
          </a:prstGeom>
          <a:solidFill>
            <a:srgbClr val="5B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801368"/>
            <a:ext cx="304495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Aptos"/>
              </a:rPr>
              <a:t>PREDICATE &amp; 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2176272"/>
            <a:ext cx="3044952" cy="262432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wattage -&gt; wattage &gt;= 450 selects high-power panels using a Predicate and stream filter.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645920"/>
            <a:ext cx="3657600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0" y="1645920"/>
            <a:ext cx="73152" cy="3246120"/>
          </a:xfrm>
          <a:prstGeom prst="rect">
            <a:avLst/>
          </a:prstGeom>
          <a:solidFill>
            <a:srgbClr val="F4B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5008" y="1801368"/>
            <a:ext cx="327355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Aptos"/>
              </a:rPr>
              <a:t>STREAM 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8" y="2176272"/>
            <a:ext cx="3273552" cy="262432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mapToDouble, sum, filter, sorted, average, count and collect process panel 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166360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272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5276088"/>
            <a:ext cx="105156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JAVA SNIPPET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5550408"/>
            <a:ext cx="1051560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List&lt;Double&gt; highPowerPanels = panelWattages.stream()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    .filter(wattage -&gt; wattage &gt;= 450)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    .collect(Collectors.toList());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5720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FFFFFF"/>
                </a:solidFill>
                <a:latin typeface="Aptos"/>
              </a:rPr>
              <a:t>Conclusion &amp; key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713232" cy="50292"/>
          </a:xfrm>
          <a:prstGeom prst="rect">
            <a:avLst/>
          </a:prstGeom>
          <a:solidFill>
            <a:srgbClr val="5B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029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ROOFTOP SOLAR ENERGY SYSTEM  •  TEAM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25146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38528"/>
            <a:ext cx="22860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100" b="1">
                <a:solidFill>
                  <a:srgbClr val="000000"/>
                </a:solidFill>
                <a:latin typeface="Aptos"/>
              </a:rPr>
              <a:t>5.4 kW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487168"/>
            <a:ext cx="22860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000000"/>
                </a:solidFill>
                <a:latin typeface="Aptos"/>
              </a:rPr>
              <a:t>Installed capacity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737360"/>
            <a:ext cx="25146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1938528"/>
            <a:ext cx="22860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100" b="1">
                <a:solidFill>
                  <a:srgbClr val="000000"/>
                </a:solidFill>
                <a:latin typeface="Aptos"/>
              </a:rPr>
              <a:t>757.35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487168"/>
            <a:ext cx="22860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000000"/>
                </a:solidFill>
                <a:latin typeface="Aptos"/>
              </a:rPr>
              <a:t>kWh/month generation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37360"/>
            <a:ext cx="25146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938528"/>
            <a:ext cx="22860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100" b="1">
                <a:solidFill>
                  <a:srgbClr val="000000"/>
                </a:solidFill>
                <a:latin typeface="Aptos"/>
              </a:rPr>
              <a:t>430.68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2487168"/>
            <a:ext cx="22860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000000"/>
                </a:solidFill>
                <a:latin typeface="Aptos"/>
              </a:rPr>
              <a:t>kWh/month surplus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737360"/>
            <a:ext cx="25146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16567" y="1938528"/>
            <a:ext cx="22860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100" b="1">
                <a:solidFill>
                  <a:srgbClr val="000000"/>
                </a:solidFill>
                <a:latin typeface="Aptos"/>
              </a:rPr>
              <a:t>₹3,057.85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7" y="2487168"/>
            <a:ext cx="22860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000000"/>
                </a:solidFill>
                <a:latin typeface="Aptos"/>
              </a:rPr>
              <a:t>Monthly savings (est.)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474720"/>
            <a:ext cx="525780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474720"/>
            <a:ext cx="73152" cy="1508760"/>
          </a:xfrm>
          <a:prstGeom prst="rect">
            <a:avLst/>
          </a:prstGeom>
          <a:solidFill>
            <a:srgbClr val="30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3630168"/>
            <a:ext cx="487375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Aptos"/>
              </a:rPr>
              <a:t>PROJECT TAKEAWAY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005072"/>
            <a:ext cx="4873752" cy="88696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The modeled 12-panel system generates more energy than the reported average monthly use of 326.67 kWh.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474720"/>
            <a:ext cx="53492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3474720"/>
            <a:ext cx="73152" cy="1508760"/>
          </a:xfrm>
          <a:prstGeom prst="rect">
            <a:avLst/>
          </a:prstGeom>
          <a:solidFill>
            <a:srgbClr val="5B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3630168"/>
            <a:ext cx="496519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Aptos"/>
              </a:rPr>
              <a:t>ESTIMATED PAYBACK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4005072"/>
            <a:ext cx="4965192" cy="88696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Aptos"/>
              </a:rPr>
              <a:t>17.4 years using the stated tariff assumption. Surplus is modeled as eligible for net metering; no battery is needed in this scenario.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349240"/>
            <a:ext cx="10881360" cy="640080"/>
          </a:xfrm>
          <a:prstGeom prst="roundRect">
            <a:avLst>
              <a:gd name="adj" fmla="val 12000"/>
            </a:avLst>
          </a:prstGeom>
          <a:solidFill>
            <a:srgbClr val="F0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504688"/>
            <a:ext cx="10424160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Future scope: city-specific user input, monthly sunlight data, subsidy calculation and a graphical interface.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5720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FFFFFF"/>
                </a:solidFill>
                <a:latin typeface="Aptos"/>
              </a:rPr>
              <a:t>Program screenshots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713232" cy="50292"/>
          </a:xfrm>
          <a:prstGeom prst="rect">
            <a:avLst/>
          </a:prstGeom>
          <a:solidFill>
            <a:srgbClr val="5B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029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ROOFTOP SOLAR ENERGY SYSTEM  •  TEAM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pic>
        <p:nvPicPr>
          <p:cNvPr id="8" name="Picture 7" descr="WhatsApp Image 2026-10-15 at 7.18.49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361" y="1600200"/>
            <a:ext cx="8048972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5720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PROJECT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FFFFFF"/>
                </a:solidFill>
                <a:latin typeface="Aptos"/>
              </a:rPr>
              <a:t>Geo-tag photo &amp; repository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713232" cy="50292"/>
          </a:xfrm>
          <a:prstGeom prst="rect">
            <a:avLst/>
          </a:prstGeom>
          <a:solidFill>
            <a:srgbClr val="5B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029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ROOFTOP SOLAR ENERGY SYSTEM  •  TEAM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489204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73152" cy="3383280"/>
          </a:xfrm>
          <a:prstGeom prst="rect">
            <a:avLst/>
          </a:prstGeom>
          <a:solidFill>
            <a:srgbClr val="30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01368"/>
            <a:ext cx="450799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Aptos"/>
              </a:rPr>
              <a:t>GEO-TAG PHOTO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1645920"/>
            <a:ext cx="571500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06440" y="1645920"/>
            <a:ext cx="73152" cy="3383280"/>
          </a:xfrm>
          <a:prstGeom prst="rect">
            <a:avLst/>
          </a:prstGeom>
          <a:solidFill>
            <a:srgbClr val="5B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07607" y="1801368"/>
            <a:ext cx="533095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Aptos"/>
              </a:rPr>
              <a:t>GITHUB REPOSITORY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7607" y="2176272"/>
            <a:ext cx="5330952" cy="2761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00000"/>
                </a:solidFill>
              </a:defRPr>
            </a:pPr>
            <a:r>
              <a:t>GitHub Repository Links:</a:t>
            </a:r>
          </a:p>
          <a:p>
            <a:pPr>
              <a:defRPr sz="1200" u="sng">
                <a:solidFill>
                  <a:srgbClr val="000000"/>
                </a:solidFill>
              </a:defRPr>
            </a:pPr>
            <a:r>
              <a:rPr>
                <a:hlinkClick r:id="rId2"/>
              </a:rPr>
              <a:t>https://github.com/bhogadirishita-dot/PSPJ</a:t>
            </a:r>
          </a:p>
          <a:p>
            <a:pPr>
              <a:defRPr sz="1200" u="sng">
                <a:solidFill>
                  <a:srgbClr val="000000"/>
                </a:solidFill>
              </a:defRPr>
            </a:pPr>
            <a:r>
              <a:rPr>
                <a:hlinkClick r:id="rId3"/>
              </a:rPr>
              <a:t>https://github.com/mahima422/PSPJ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4924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1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477256"/>
            <a:ext cx="10424160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r>
              <a:t>GEO-TAG PHOTO ADDED • Hyderabad, Telangana • 16 October 2026</a:t>
            </a:r>
          </a:p>
        </p:txBody>
      </p:sp>
      <p:pic>
        <p:nvPicPr>
          <p:cNvPr id="18" name="Picture 17" descr="WhatsApp Image 2026-10-16 at 2.58.47 PM.jpeg"/>
          <p:cNvPicPr>
            <a:picLocks noChangeAspect="1"/>
          </p:cNvPicPr>
          <p:nvPr/>
        </p:nvPicPr>
        <p:blipFill>
          <a:blip r:embed="rId4"/>
          <a:srcRect t="4000" b="4000"/>
          <a:stretch>
            <a:fillRect/>
          </a:stretch>
        </p:blipFill>
        <p:spPr>
          <a:xfrm>
            <a:off x="841248" y="2176272"/>
            <a:ext cx="4160520" cy="24871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0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Rooftop Solar Energy System  •  Team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989320"/>
            <a:ext cx="99669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0">
                <a:solidFill>
                  <a:srgbClr val="FFFFFF"/>
                </a:solidFill>
                <a:latin typeface="Aptos"/>
              </a:rPr>
              <a:t>PowerPoint template credit: SlideEgg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32. MONTHLY PERFORMANCE REPORT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1E2E4"/>
      </a:accent1>
      <a:accent2>
        <a:srgbClr val="282829"/>
      </a:accent2>
      <a:accent3>
        <a:srgbClr val="BED62F"/>
      </a:accent3>
      <a:accent4>
        <a:srgbClr val="F36F21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32. MONTHLY PERFORMANCE REPORT">
      <a:majorFont>
        <a:latin typeface="Zalando Sans SemiBold"/>
        <a:ea typeface=""/>
        <a:cs typeface=""/>
      </a:majorFont>
      <a:minorFont>
        <a:latin typeface="Zaland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</TotalTime>
  <Words>1223</Words>
  <Application>Microsoft Office PowerPoint</Application>
  <PresentationFormat>Widescreen</PresentationFormat>
  <Paragraphs>263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Poppins</vt:lpstr>
      <vt:lpstr>Zalando Sans</vt:lpstr>
      <vt:lpstr>Zalando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SlideEgg</dc:creator>
  <cp:lastModifiedBy>Bhavadharani T</cp:lastModifiedBy>
  <cp:revision>57</cp:revision>
  <dcterms:created xsi:type="dcterms:W3CDTF">2026-03-13T01:19:18Z</dcterms:created>
  <dcterms:modified xsi:type="dcterms:W3CDTF">2026-09-28T05:52:43Z</dcterms:modified>
</cp:coreProperties>
</file>